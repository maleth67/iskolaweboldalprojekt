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8"/>
    <p:restoredTop sz="94668"/>
  </p:normalViewPr>
  <p:slideViewPr>
    <p:cSldViewPr snapToGrid="0" snapToObjects="1">
      <p:cViewPr>
        <p:scale>
          <a:sx n="142" d="100"/>
          <a:sy n="142" d="100"/>
        </p:scale>
        <p:origin x="384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3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909560" y="-731520"/>
            <a:ext cx="5029200" cy="5029200"/>
          </a:xfrm>
          <a:prstGeom prst="ellipse">
            <a:avLst/>
          </a:prstGeom>
          <a:solidFill>
            <a:srgbClr val="927B67"/>
          </a:solidFill>
          <a:ln>
            <a:solidFill>
              <a:srgbClr val="92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41080" y="3291840"/>
            <a:ext cx="4114800" cy="4114800"/>
          </a:xfrm>
          <a:prstGeom prst="ellipse">
            <a:avLst/>
          </a:prstGeom>
          <a:solidFill>
            <a:srgbClr val="AD9987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658368"/>
            <a:ext cx="1051560" cy="109728"/>
          </a:xfrm>
          <a:prstGeom prst="roundRect">
            <a:avLst/>
          </a:prstGeom>
          <a:solidFill>
            <a:srgbClr val="E1BE7E"/>
          </a:solidFill>
          <a:ln>
            <a:solidFill>
              <a:srgbClr val="E1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47548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1BE7E"/>
                </a:solidFill>
                <a:latin typeface="Aptos"/>
              </a:rPr>
              <a:t>PROJEKTBEMUTATÓ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7498079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Szent Benedek PG
iskolai weboldal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5074920"/>
            <a:ext cx="3931920" cy="658368"/>
          </a:xfrm>
          <a:prstGeom prst="roundRect">
            <a:avLst/>
          </a:prstGeom>
          <a:solidFill>
            <a:srgbClr val="694E3C"/>
          </a:solidFill>
          <a:ln>
            <a:solidFill>
              <a:srgbClr val="694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252" y="5114794"/>
            <a:ext cx="361188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Aptos"/>
              </a:rPr>
              <a:t>Készítette</a:t>
            </a:r>
            <a:r>
              <a:rPr sz="1400" b="1" i="0" dirty="0">
                <a:solidFill>
                  <a:srgbClr val="FFFFFF"/>
                </a:solidFill>
                <a:latin typeface="Aptos"/>
              </a:rPr>
              <a:t>: K</a:t>
            </a:r>
            <a:r>
              <a:rPr lang="hu-HU" sz="1400" b="1" i="0" dirty="0" err="1">
                <a:solidFill>
                  <a:srgbClr val="FFFFFF"/>
                </a:solidFill>
                <a:latin typeface="Aptos"/>
              </a:rPr>
              <a:t>örmöndi</a:t>
            </a:r>
            <a:r>
              <a:rPr lang="hu-HU" sz="1400" b="1" i="0" dirty="0">
                <a:solidFill>
                  <a:srgbClr val="FFFFFF"/>
                </a:solidFill>
                <a:latin typeface="Aptos"/>
              </a:rPr>
              <a:t> Jonatán, </a:t>
            </a:r>
            <a:r>
              <a:rPr lang="hu-HU" sz="1400" b="1" i="0" dirty="0" err="1">
                <a:solidFill>
                  <a:srgbClr val="FFFFFF"/>
                </a:solidFill>
                <a:latin typeface="Aptos"/>
              </a:rPr>
              <a:t>Maléth</a:t>
            </a:r>
            <a:r>
              <a:rPr lang="hu-HU" sz="1400" b="1" i="0" dirty="0">
                <a:solidFill>
                  <a:srgbClr val="FFFFFF"/>
                </a:solidFill>
                <a:latin typeface="Aptos"/>
              </a:rPr>
              <a:t> Marcell, Ötvös Levente</a:t>
            </a:r>
            <a:endParaRPr sz="14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7724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1D2C2"/>
                </a:solidFill>
                <a:latin typeface="Aptos"/>
              </a:rPr>
              <a:t>Forrás: github.com/Maleth67/IskolaWeboldalProjekt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27B67"/>
                </a:solidFill>
                <a:latin typeface="Aptos"/>
              </a:rPr>
              <a:t>01 • ÁTTEKINTÉS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553E30"/>
                </a:solidFill>
                <a:latin typeface="Aptos"/>
              </a:rPr>
              <a:t>A projekt célja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584B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69848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 dirty="0">
                <a:solidFill>
                  <a:srgbClr val="30261F"/>
                </a:solidFill>
                <a:latin typeface="Aptos"/>
              </a:rPr>
              <a:t>Egy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iskolai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weboldal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koncepciója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,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amely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egy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helyen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teszi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elérhetővé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az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intézmény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legfontosabb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2200" b="1" i="0" dirty="0" err="1">
                <a:solidFill>
                  <a:srgbClr val="30261F"/>
                </a:solidFill>
                <a:latin typeface="Aptos"/>
              </a:rPr>
              <a:t>információit</a:t>
            </a:r>
            <a:r>
              <a:rPr sz="2200" b="1" i="0" dirty="0">
                <a:solidFill>
                  <a:srgbClr val="30261F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060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606040"/>
            <a:ext cx="91440" cy="2148840"/>
          </a:xfrm>
          <a:prstGeom prst="rect">
            <a:avLst/>
          </a:prstGeom>
          <a:solidFill>
            <a:srgbClr val="927B67"/>
          </a:solidFill>
          <a:ln>
            <a:solidFill>
              <a:srgbClr val="92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2770632"/>
            <a:ext cx="304495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 dirty="0" err="1">
                <a:solidFill>
                  <a:srgbClr val="553E30"/>
                </a:solidFill>
                <a:latin typeface="Aptos"/>
              </a:rPr>
              <a:t>Információ</a:t>
            </a:r>
            <a:endParaRPr sz="1700" b="1" i="0" dirty="0">
              <a:solidFill>
                <a:srgbClr val="553E30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5256" y="3227832"/>
            <a:ext cx="3044952" cy="1399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 dirty="0">
                <a:solidFill>
                  <a:srgbClr val="30261F"/>
                </a:solidFill>
                <a:latin typeface="Aptos"/>
              </a:rPr>
              <a:t>A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navigációban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szerepelnek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többek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között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 a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képzések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, a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felvételi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, a sport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és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az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iskola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500" b="0" i="0" dirty="0" err="1">
                <a:solidFill>
                  <a:srgbClr val="30261F"/>
                </a:solidFill>
                <a:latin typeface="Aptos"/>
              </a:rPr>
              <a:t>története</a:t>
            </a:r>
            <a:r>
              <a:rPr sz="1500" b="0" i="0" dirty="0">
                <a:solidFill>
                  <a:srgbClr val="30261F"/>
                </a:solidFill>
                <a:latin typeface="Apto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6060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2606040"/>
            <a:ext cx="91440" cy="2148840"/>
          </a:xfrm>
          <a:prstGeom prst="rect">
            <a:avLst/>
          </a:prstGeom>
          <a:solidFill>
            <a:srgbClr val="AD9987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770632"/>
            <a:ext cx="304495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53E30"/>
                </a:solidFill>
                <a:latin typeface="Aptos"/>
              </a:rPr>
              <a:t>Megjelenés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227832"/>
            <a:ext cx="3044952" cy="1399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30261F"/>
                </a:solidFill>
                <a:latin typeface="Aptos"/>
              </a:rPr>
              <a:t>A barna–bézs színvilág, a lekerekített elemek és a nagy központi logó egységes arculatot adnak.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6060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606040"/>
            <a:ext cx="91440" cy="2148840"/>
          </a:xfrm>
          <a:prstGeom prst="rect">
            <a:avLst/>
          </a:prstGeom>
          <a:solidFill>
            <a:srgbClr val="E1BE7E"/>
          </a:solidFill>
          <a:ln>
            <a:solidFill>
              <a:srgbClr val="E1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2770632"/>
            <a:ext cx="304495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53E30"/>
                </a:solidFill>
                <a:latin typeface="Aptos"/>
              </a:rPr>
              <a:t>Interakció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3227832"/>
            <a:ext cx="3044952" cy="1399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30261F"/>
                </a:solidFill>
                <a:latin typeface="Aptos"/>
              </a:rPr>
              <a:t>A főoldalon automatikusan váltakozó bemutatópanel és kattintható szerencsekerék található.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7315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584B"/>
                </a:solidFill>
                <a:latin typeface="Aptos"/>
              </a:rPr>
              <a:t>Szent Benedek PG • Iskolai weboldalprojekt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27B67"/>
                </a:solidFill>
                <a:latin typeface="Aptos"/>
              </a:rPr>
              <a:t>02 • FELÉPÍTÉS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553E30"/>
                </a:solidFill>
                <a:latin typeface="Aptos"/>
              </a:rPr>
              <a:t>Oldalszerkezet és navigáció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584B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30261F"/>
                </a:solidFill>
                <a:latin typeface="Aptos"/>
              </a:rPr>
              <a:t>A főoldal egy központi menü köré szervezi az iskola tartalmait.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5988" y="2491740"/>
            <a:ext cx="3154680" cy="777240"/>
          </a:xfrm>
          <a:prstGeom prst="round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81728" y="2651760"/>
            <a:ext cx="27432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 dirty="0">
                <a:solidFill>
                  <a:srgbClr val="FFFFFF"/>
                </a:solidFill>
                <a:latin typeface="Aptos"/>
              </a:rPr>
              <a:t>FŐOLDAL • </a:t>
            </a:r>
            <a:r>
              <a:rPr sz="1700" b="1" i="0" dirty="0" err="1">
                <a:solidFill>
                  <a:srgbClr val="FFFFFF"/>
                </a:solidFill>
                <a:latin typeface="Aptos"/>
              </a:rPr>
              <a:t>index.html</a:t>
            </a:r>
            <a:endParaRPr sz="17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38528"/>
            <a:ext cx="23317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53E30"/>
                </a:solidFill>
                <a:latin typeface="Aptos"/>
              </a:rPr>
              <a:t>Képzéseink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081528"/>
            <a:ext cx="23317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53E30"/>
                </a:solidFill>
                <a:latin typeface="Aptos"/>
              </a:rPr>
              <a:t>Munkatársaink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6908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224528"/>
            <a:ext cx="23317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53E30"/>
                </a:solidFill>
                <a:latin typeface="Aptos"/>
              </a:rPr>
              <a:t>Erasmus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21208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367528"/>
            <a:ext cx="23317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53E30"/>
                </a:solidFill>
                <a:latin typeface="Aptos"/>
              </a:rPr>
              <a:t>Rólunk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78308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06840" y="1938528"/>
            <a:ext cx="23317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53E30"/>
                </a:solidFill>
                <a:latin typeface="Aptos"/>
              </a:rPr>
              <a:t>Sport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292608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3081528"/>
            <a:ext cx="23317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53E30"/>
                </a:solidFill>
                <a:latin typeface="Aptos"/>
              </a:rPr>
              <a:t>Felvételi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06908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06840" y="4224528"/>
            <a:ext cx="23317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53E30"/>
                </a:solidFill>
                <a:latin typeface="Aptos"/>
              </a:rPr>
              <a:t>Történet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5212080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5367528"/>
            <a:ext cx="23317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553E30"/>
                </a:solidFill>
                <a:latin typeface="Aptos"/>
              </a:rPr>
              <a:t>Kapcsolat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00400" y="2057400"/>
            <a:ext cx="1280160" cy="594360"/>
          </a:xfrm>
          <a:prstGeom prst="line">
            <a:avLst/>
          </a:prstGeom>
          <a:ln w="20320">
            <a:solidFill>
              <a:srgbClr val="AD9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200400" y="2788920"/>
            <a:ext cx="1280160" cy="411480"/>
          </a:xfrm>
          <a:prstGeom prst="line">
            <a:avLst/>
          </a:prstGeom>
          <a:ln w="20320">
            <a:solidFill>
              <a:srgbClr val="AD9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00400" y="2880360"/>
            <a:ext cx="1280160" cy="1463040"/>
          </a:xfrm>
          <a:prstGeom prst="line">
            <a:avLst/>
          </a:prstGeom>
          <a:ln w="20320">
            <a:solidFill>
              <a:srgbClr val="AD9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00400" y="3017520"/>
            <a:ext cx="1280160" cy="2468880"/>
          </a:xfrm>
          <a:prstGeom prst="line">
            <a:avLst/>
          </a:prstGeom>
          <a:ln w="20320">
            <a:solidFill>
              <a:srgbClr val="AD9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635240" y="2057400"/>
            <a:ext cx="1280160" cy="594360"/>
          </a:xfrm>
          <a:prstGeom prst="line">
            <a:avLst/>
          </a:prstGeom>
          <a:ln w="20320">
            <a:solidFill>
              <a:srgbClr val="AD9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635240" y="2743200"/>
            <a:ext cx="1280160" cy="457200"/>
          </a:xfrm>
          <a:prstGeom prst="line">
            <a:avLst/>
          </a:prstGeom>
          <a:ln w="20320">
            <a:solidFill>
              <a:srgbClr val="AD9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35240" y="2834640"/>
            <a:ext cx="1280160" cy="1508760"/>
          </a:xfrm>
          <a:prstGeom prst="line">
            <a:avLst/>
          </a:prstGeom>
          <a:ln w="20320">
            <a:solidFill>
              <a:srgbClr val="AD9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635240" y="2926080"/>
            <a:ext cx="1280160" cy="2560320"/>
          </a:xfrm>
          <a:prstGeom prst="line">
            <a:avLst/>
          </a:prstGeom>
          <a:ln w="20320">
            <a:solidFill>
              <a:srgbClr val="AD99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0887" y="5989320"/>
            <a:ext cx="10789920" cy="31701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 err="1">
                <a:solidFill>
                  <a:srgbClr val="A04B3C"/>
                </a:solidFill>
                <a:latin typeface="Aptos"/>
              </a:rPr>
              <a:t>Megjegyzés</a:t>
            </a:r>
            <a:r>
              <a:rPr sz="1100" b="1" i="0" dirty="0">
                <a:solidFill>
                  <a:srgbClr val="A04B3C"/>
                </a:solidFill>
                <a:latin typeface="Aptos"/>
              </a:rPr>
              <a:t>: a HTML-ben a </a:t>
            </a:r>
            <a:r>
              <a:rPr sz="1100" b="1" i="0" dirty="0" err="1">
                <a:solidFill>
                  <a:srgbClr val="A04B3C"/>
                </a:solidFill>
                <a:latin typeface="Aptos"/>
              </a:rPr>
              <a:t>menüpontok</a:t>
            </a:r>
            <a:r>
              <a:rPr sz="1100" b="1" i="0" dirty="0">
                <a:solidFill>
                  <a:srgbClr val="A04B3C"/>
                </a:solidFill>
                <a:latin typeface="Aptos"/>
              </a:rPr>
              <a:t> </a:t>
            </a:r>
            <a:r>
              <a:rPr sz="1100" b="1" i="0" dirty="0" err="1">
                <a:solidFill>
                  <a:srgbClr val="A04B3C"/>
                </a:solidFill>
                <a:latin typeface="Aptos"/>
              </a:rPr>
              <a:t>külön</a:t>
            </a:r>
            <a:r>
              <a:rPr sz="1100" b="1" i="0" dirty="0">
                <a:solidFill>
                  <a:srgbClr val="A04B3C"/>
                </a:solidFill>
                <a:latin typeface="Aptos"/>
              </a:rPr>
              <a:t> </a:t>
            </a:r>
            <a:r>
              <a:rPr sz="1100" b="1" i="0" dirty="0" err="1">
                <a:solidFill>
                  <a:srgbClr val="A04B3C"/>
                </a:solidFill>
                <a:latin typeface="Aptos"/>
              </a:rPr>
              <a:t>aloldalakra</a:t>
            </a:r>
            <a:r>
              <a:rPr sz="1100" b="1" i="0" dirty="0">
                <a:solidFill>
                  <a:srgbClr val="A04B3C"/>
                </a:solidFill>
                <a:latin typeface="Aptos"/>
              </a:rPr>
              <a:t> </a:t>
            </a:r>
            <a:r>
              <a:rPr sz="1100" b="1" i="0" dirty="0" err="1">
                <a:solidFill>
                  <a:srgbClr val="A04B3C"/>
                </a:solidFill>
                <a:latin typeface="Aptos"/>
              </a:rPr>
              <a:t>mutatnak</a:t>
            </a:r>
            <a:r>
              <a:rPr sz="1100" b="1" i="0" dirty="0">
                <a:solidFill>
                  <a:srgbClr val="A04B3C"/>
                </a:solidFill>
                <a:latin typeface="Aptos"/>
              </a:rPr>
              <a:t>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7315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584B"/>
                </a:solidFill>
                <a:latin typeface="Aptos"/>
              </a:rPr>
              <a:t>Szent Benedek PG • Iskolai weboldalprojekt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27B67"/>
                </a:solidFill>
                <a:latin typeface="Aptos"/>
              </a:rPr>
              <a:t>03 • FELHASZNÁLÓI ÉLMÉNY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786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dirty="0" err="1">
                <a:solidFill>
                  <a:srgbClr val="553E30"/>
                </a:solidFill>
                <a:latin typeface="Aptos"/>
              </a:rPr>
              <a:t>Dizájn</a:t>
            </a:r>
            <a:r>
              <a:rPr sz="2800" b="1" i="0" dirty="0">
                <a:solidFill>
                  <a:srgbClr val="553E30"/>
                </a:solidFill>
                <a:latin typeface="Aptos"/>
              </a:rPr>
              <a:t> </a:t>
            </a:r>
            <a:r>
              <a:rPr sz="2800" b="1" i="0" dirty="0" err="1">
                <a:solidFill>
                  <a:srgbClr val="553E30"/>
                </a:solidFill>
                <a:latin typeface="Aptos"/>
              </a:rPr>
              <a:t>és</a:t>
            </a:r>
            <a:r>
              <a:rPr lang="hu-HU" sz="2800" b="1" dirty="0">
                <a:solidFill>
                  <a:srgbClr val="553E30"/>
                </a:solidFill>
                <a:latin typeface="Aptos"/>
              </a:rPr>
              <a:t> Színezés</a:t>
            </a:r>
            <a:endParaRPr sz="2800" b="1" i="0" dirty="0">
              <a:solidFill>
                <a:srgbClr val="553E3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584B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5720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0261F"/>
                </a:solidFill>
                <a:latin typeface="Aptos"/>
              </a:rPr>
              <a:t>A CSS-ben definiált fő színek: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572768" cy="1005840"/>
          </a:xfrm>
          <a:prstGeom prst="roundRect">
            <a:avLst/>
          </a:prstGeom>
          <a:solidFill>
            <a:srgbClr val="553E30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090672"/>
            <a:ext cx="1572768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53E30"/>
                </a:solidFill>
                <a:latin typeface="Aptos"/>
              </a:rPr>
              <a:t>Sötétbarna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157276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9584B"/>
                </a:solidFill>
                <a:latin typeface="Aptos"/>
              </a:rPr>
              <a:t>#553e30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965960"/>
            <a:ext cx="1572768" cy="1005840"/>
          </a:xfrm>
          <a:prstGeom prst="roundRect">
            <a:avLst/>
          </a:prstGeom>
          <a:solidFill>
            <a:srgbClr val="927B67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3090672"/>
            <a:ext cx="1572768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53E30"/>
                </a:solidFill>
                <a:latin typeface="Aptos"/>
              </a:rPr>
              <a:t>Barna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401568"/>
            <a:ext cx="157276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9584B"/>
                </a:solidFill>
                <a:latin typeface="Aptos"/>
              </a:rPr>
              <a:t>#927B67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1965960"/>
            <a:ext cx="1572768" cy="1005840"/>
          </a:xfrm>
          <a:prstGeom prst="roundRect">
            <a:avLst/>
          </a:prstGeom>
          <a:solidFill>
            <a:srgbClr val="AD9987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3090672"/>
            <a:ext cx="1572768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53E30"/>
                </a:solidFill>
                <a:latin typeface="Aptos"/>
              </a:rPr>
              <a:t>Bézs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401568"/>
            <a:ext cx="157276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9584B"/>
                </a:solidFill>
                <a:latin typeface="Aptos"/>
              </a:rPr>
              <a:t>#ad9987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1965960"/>
            <a:ext cx="1572768" cy="1005840"/>
          </a:xfrm>
          <a:prstGeom prst="roundRect">
            <a:avLst/>
          </a:prstGeom>
          <a:solidFill>
            <a:srgbClr val="F6F0E8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799" y="3090672"/>
            <a:ext cx="1572768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53E30"/>
                </a:solidFill>
                <a:latin typeface="Aptos"/>
              </a:rPr>
              <a:t>Világos háttér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3401568"/>
            <a:ext cx="157276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9584B"/>
                </a:solidFill>
                <a:latin typeface="Aptos"/>
              </a:rPr>
              <a:t>#f6f0e8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160520"/>
            <a:ext cx="91440" cy="1234440"/>
          </a:xfrm>
          <a:prstGeom prst="rect">
            <a:avLst/>
          </a:prstGeom>
          <a:solidFill>
            <a:srgbClr val="927B67"/>
          </a:solidFill>
          <a:ln>
            <a:solidFill>
              <a:srgbClr val="92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4325112"/>
            <a:ext cx="309067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53E30"/>
                </a:solidFill>
                <a:latin typeface="Aptos"/>
              </a:rPr>
              <a:t>Lekerekített kártyák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782312"/>
            <a:ext cx="3090672" cy="484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0261F"/>
                </a:solidFill>
                <a:latin typeface="Aptos"/>
              </a:rPr>
              <a:t>A menüpontok és tartalmi blokkok puhább, egységes formát kapnak.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41605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70832" y="4160520"/>
            <a:ext cx="91440" cy="1234440"/>
          </a:xfrm>
          <a:prstGeom prst="rect">
            <a:avLst/>
          </a:prstGeom>
          <a:solidFill>
            <a:srgbClr val="AD9987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90288" y="4325112"/>
            <a:ext cx="309067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53E30"/>
                </a:solidFill>
                <a:latin typeface="Aptos"/>
              </a:rPr>
              <a:t>Kiemelt fejléc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4782312"/>
            <a:ext cx="3090672" cy="484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0261F"/>
                </a:solidFill>
                <a:latin typeface="Aptos"/>
              </a:rPr>
              <a:t>A fix fejléc az iskola nevét és logóját helyezi előtérbe.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4160520"/>
            <a:ext cx="3474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10144" y="4160520"/>
            <a:ext cx="91440" cy="1234440"/>
          </a:xfrm>
          <a:prstGeom prst="rect">
            <a:avLst/>
          </a:prstGeom>
          <a:solidFill>
            <a:srgbClr val="E1BE7E"/>
          </a:solidFill>
          <a:ln>
            <a:solidFill>
              <a:srgbClr val="E1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4325112"/>
            <a:ext cx="309067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53E30"/>
                </a:solidFill>
                <a:latin typeface="Aptos"/>
              </a:rPr>
              <a:t>Reszponzív szabályok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782312"/>
            <a:ext cx="3090672" cy="4846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0261F"/>
                </a:solidFill>
                <a:latin typeface="Aptos"/>
              </a:rPr>
              <a:t>A CSS 768 px alatti képernyőkre külön elrendezést definiál.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7315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584B"/>
                </a:solidFill>
                <a:latin typeface="Aptos"/>
              </a:rPr>
              <a:t>Szent Benedek PG • Iskolai weboldalprojekt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27B67"/>
                </a:solidFill>
                <a:latin typeface="Aptos"/>
              </a:rPr>
              <a:t>04 • MEGVALÓSÍTÁS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553E30"/>
                </a:solidFill>
                <a:latin typeface="Aptos"/>
              </a:rPr>
              <a:t>A HTML szerepe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584B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0261F"/>
                </a:solidFill>
                <a:latin typeface="Aptos"/>
              </a:rPr>
              <a:t>Az index.html adja a főoldal tartalmi és szerkezeti vázát.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6035040" cy="3383280"/>
          </a:xfrm>
          <a:prstGeom prst="rect">
            <a:avLst/>
          </a:prstGeom>
          <a:noFill/>
        </p:spPr>
        <p:txBody>
          <a:bodyPr wrap="square" lIns="109728" tIns="54864" rIns="73152" b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0261F"/>
                </a:solidFill>
                <a:latin typeface="Aptos"/>
              </a:defRPr>
            </a:pPr>
            <a:r>
              <a:t>•  A magyar nyelvű oldal címe: „Szent Benedek PG”.</a:t>
            </a:r>
          </a:p>
          <a:p>
            <a:pPr>
              <a:spcAft>
                <a:spcPts val="1200"/>
              </a:spcAft>
              <a:defRPr sz="1700">
                <a:solidFill>
                  <a:srgbClr val="30261F"/>
                </a:solidFill>
                <a:latin typeface="Aptos"/>
              </a:defRPr>
            </a:pPr>
            <a:r>
              <a:t>•  A fejlécben logó és intézménynév jelenik meg.</a:t>
            </a:r>
          </a:p>
          <a:p>
            <a:pPr>
              <a:spcAft>
                <a:spcPts val="1200"/>
              </a:spcAft>
              <a:defRPr sz="1700">
                <a:solidFill>
                  <a:srgbClr val="30261F"/>
                </a:solidFill>
                <a:latin typeface="Aptos"/>
              </a:defRPr>
            </a:pPr>
            <a:r>
              <a:t>•  A táblázatos elrendezés nyolc navigációs célpontot sorol fel.</a:t>
            </a:r>
          </a:p>
          <a:p>
            <a:pPr>
              <a:spcAft>
                <a:spcPts val="1200"/>
              </a:spcAft>
              <a:defRPr sz="1700">
                <a:solidFill>
                  <a:srgbClr val="30261F"/>
                </a:solidFill>
                <a:latin typeface="Aptos"/>
              </a:defRPr>
            </a:pPr>
            <a:r>
              <a:t>•  A bemutatópanel több eseményt vagy információt jelenít meg.</a:t>
            </a:r>
          </a:p>
          <a:p>
            <a:pPr>
              <a:spcAft>
                <a:spcPts val="1200"/>
              </a:spcAft>
              <a:defRPr sz="1700">
                <a:solidFill>
                  <a:srgbClr val="30261F"/>
                </a:solidFill>
                <a:latin typeface="Aptos"/>
              </a:defRPr>
            </a:pPr>
            <a:r>
              <a:t>•  A szerencsekerék gombnyomásra eredményt mutat.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874519"/>
            <a:ext cx="40690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0" y="1874519"/>
            <a:ext cx="4069080" cy="411480"/>
          </a:xfrm>
          <a:prstGeom prst="round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516368" y="2002536"/>
            <a:ext cx="100584" cy="100584"/>
          </a:xfrm>
          <a:prstGeom prst="ellipse">
            <a:avLst/>
          </a:prstGeom>
          <a:solidFill>
            <a:srgbClr val="A04B3C"/>
          </a:solidFill>
          <a:ln>
            <a:solidFill>
              <a:srgbClr val="A04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17536" y="2002536"/>
            <a:ext cx="100584" cy="100584"/>
          </a:xfrm>
          <a:prstGeom prst="ellipse">
            <a:avLst/>
          </a:prstGeom>
          <a:solidFill>
            <a:srgbClr val="E1BE7E"/>
          </a:solidFill>
          <a:ln>
            <a:solidFill>
              <a:srgbClr val="E1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18704" y="2002536"/>
            <a:ext cx="100584" cy="100584"/>
          </a:xfrm>
          <a:prstGeom prst="ellipse">
            <a:avLst/>
          </a:prstGeom>
          <a:solidFill>
            <a:srgbClr val="4C7052"/>
          </a:solidFill>
          <a:ln>
            <a:solidFill>
              <a:srgbClr val="4C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2514600"/>
            <a:ext cx="32461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553E30"/>
                </a:solidFill>
                <a:latin typeface="Aptos"/>
              </a:rPr>
              <a:t>Szent Benedek PG</a:t>
            </a:r>
          </a:p>
        </p:txBody>
      </p:sp>
      <p:sp>
        <p:nvSpPr>
          <p:cNvPr id="14" name="Oval 13"/>
          <p:cNvSpPr/>
          <p:nvPr/>
        </p:nvSpPr>
        <p:spPr>
          <a:xfrm>
            <a:off x="8641080" y="2926080"/>
            <a:ext cx="1325880" cy="1325880"/>
          </a:xfrm>
          <a:prstGeom prst="ellipse">
            <a:avLst/>
          </a:prstGeom>
          <a:solidFill>
            <a:srgbClr val="AD9987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3104" y="3364992"/>
            <a:ext cx="9144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ISKOLA
LOGÓ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526280"/>
            <a:ext cx="1554480" cy="274320"/>
          </a:xfrm>
          <a:prstGeom prst="roundRect">
            <a:avLst/>
          </a:prstGeom>
          <a:solidFill>
            <a:srgbClr val="F6F0E8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62671" y="4590288"/>
            <a:ext cx="1499616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53E30"/>
                </a:solidFill>
                <a:latin typeface="Aptos"/>
              </a:rPr>
              <a:t>Képzéseink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19" y="4526280"/>
            <a:ext cx="1554480" cy="274320"/>
          </a:xfrm>
          <a:prstGeom prst="roundRect">
            <a:avLst/>
          </a:prstGeom>
          <a:solidFill>
            <a:srgbClr val="F6F0E8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45751" y="4590288"/>
            <a:ext cx="1499616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53E30"/>
                </a:solidFill>
                <a:latin typeface="Aptos"/>
              </a:rPr>
              <a:t>Sport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937760"/>
            <a:ext cx="1554480" cy="274320"/>
          </a:xfrm>
          <a:prstGeom prst="roundRect">
            <a:avLst/>
          </a:prstGeom>
          <a:solidFill>
            <a:srgbClr val="F6F0E8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62671" y="5001768"/>
            <a:ext cx="1499616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53E30"/>
                </a:solidFill>
                <a:latin typeface="Aptos"/>
              </a:rPr>
              <a:t>Felvételi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19" y="4937760"/>
            <a:ext cx="1554480" cy="274320"/>
          </a:xfrm>
          <a:prstGeom prst="roundRect">
            <a:avLst/>
          </a:prstGeom>
          <a:solidFill>
            <a:srgbClr val="F6F0E8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45751" y="5001768"/>
            <a:ext cx="1499616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53E30"/>
                </a:solidFill>
                <a:latin typeface="Aptos"/>
              </a:rPr>
              <a:t>Kapcsolat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532120"/>
            <a:ext cx="402336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1">
                <a:solidFill>
                  <a:srgbClr val="69584B"/>
                </a:solidFill>
                <a:latin typeface="Aptos"/>
              </a:rPr>
              <a:t>Sematikus illusztráció, nem képernyőkép.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7315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584B"/>
                </a:solidFill>
                <a:latin typeface="Aptos"/>
              </a:rPr>
              <a:t>Szent Benedek PG • Iskolai weboldalprojekt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27B67"/>
                </a:solidFill>
                <a:latin typeface="Aptos"/>
              </a:rPr>
              <a:t>05 • MŰKÖDÉS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553E30"/>
                </a:solidFill>
                <a:latin typeface="Aptos"/>
              </a:rPr>
              <a:t>Interaktív elemek: 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584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91440" cy="1874519"/>
          </a:xfrm>
          <a:prstGeom prst="rect">
            <a:avLst/>
          </a:prstGeom>
          <a:solidFill>
            <a:srgbClr val="927B67"/>
          </a:solidFill>
          <a:ln>
            <a:solidFill>
              <a:srgbClr val="92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764792"/>
            <a:ext cx="487375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53E30"/>
                </a:solidFill>
                <a:latin typeface="Aptos"/>
              </a:rPr>
              <a:t>1. Automatikus diaváltás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21992"/>
            <a:ext cx="4873752" cy="11247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30261F"/>
                </a:solidFill>
                <a:latin typeface="Aptos"/>
              </a:rPr>
              <a:t>A kód megkeresi a .carousel-slide elemeket, eltávolítja az aktív jelölést, majd a következő panelt aktiválja. A váltás 3 másodpercenként történik.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91440" cy="1874519"/>
          </a:xfrm>
          <a:prstGeom prst="rect">
            <a:avLst/>
          </a:prstGeom>
          <a:solidFill>
            <a:srgbClr val="AD9987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1764792"/>
            <a:ext cx="4873752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53E30"/>
                </a:solidFill>
                <a:latin typeface="Aptos"/>
              </a:rPr>
              <a:t>2. Szerencsekerék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221992"/>
            <a:ext cx="4873752" cy="11247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30261F"/>
                </a:solidFill>
                <a:latin typeface="Aptos"/>
              </a:rPr>
              <a:t>A gomb meghívja a spinWheel() függvényt. A program véletlenszerűen választ a négy előre megadott szöveg közül, majd kiírja a végső eredményt.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36576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53E30"/>
                </a:solidFill>
                <a:latin typeface="Aptos"/>
              </a:rPr>
              <a:t>Egyszerű folyamatábra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" y="4690872"/>
            <a:ext cx="1874519" cy="621792"/>
          </a:xfrm>
          <a:prstGeom prst="round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77316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Kattintás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45536" y="4668011"/>
            <a:ext cx="1874519" cy="621792"/>
          </a:xfrm>
          <a:prstGeom prst="roundRect">
            <a:avLst/>
          </a:prstGeom>
          <a:solidFill>
            <a:srgbClr val="927B67"/>
          </a:solidFill>
          <a:ln>
            <a:solidFill>
              <a:srgbClr val="92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27832" y="477316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Véletlen választás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1828" y="4668011"/>
            <a:ext cx="1874519" cy="621792"/>
          </a:xfrm>
          <a:prstGeom prst="roundRect">
            <a:avLst/>
          </a:prstGeom>
          <a:solidFill>
            <a:srgbClr val="927B67"/>
          </a:solidFill>
          <a:ln>
            <a:solidFill>
              <a:srgbClr val="92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0407" y="4800600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 dirty="0" err="1">
                <a:solidFill>
                  <a:srgbClr val="FFFFFF"/>
                </a:solidFill>
                <a:latin typeface="Aptos"/>
              </a:rPr>
              <a:t>Eredmény</a:t>
            </a:r>
            <a:r>
              <a:rPr sz="1300" b="1" i="0" dirty="0">
                <a:solidFill>
                  <a:srgbClr val="FFFFFF"/>
                </a:solidFill>
                <a:latin typeface="Aptos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ptos"/>
              </a:rPr>
              <a:t>kiírása</a:t>
            </a:r>
            <a:endParaRPr sz="13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818120" y="4663440"/>
            <a:ext cx="1874519" cy="621792"/>
          </a:xfrm>
          <a:prstGeom prst="roundRect">
            <a:avLst/>
          </a:prstGeom>
          <a:solidFill>
            <a:srgbClr val="927B67"/>
          </a:solidFill>
          <a:ln>
            <a:solidFill>
              <a:srgbClr val="92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91272" y="477316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 dirty="0" err="1">
                <a:solidFill>
                  <a:srgbClr val="FFFFFF"/>
                </a:solidFill>
                <a:latin typeface="Aptos"/>
              </a:rPr>
              <a:t>Megjelenítés</a:t>
            </a:r>
            <a:endParaRPr sz="13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97480" y="4727448"/>
            <a:ext cx="38404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1BE7E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727448"/>
            <a:ext cx="38404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1BE7E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727448"/>
            <a:ext cx="384048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1BE7E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 dirty="0">
                <a:solidFill>
                  <a:srgbClr val="69584B"/>
                </a:solidFill>
                <a:latin typeface="Aptos"/>
              </a:rPr>
              <a:t>A JavaScript a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fő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 HTML-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fájlban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,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beágyazott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scriptként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szerepel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;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külön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iskola.js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fájl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 nem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található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 a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felsorolt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gyökérfájlok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 </a:t>
            </a:r>
            <a:r>
              <a:rPr sz="1100" b="0" i="1" dirty="0" err="1">
                <a:solidFill>
                  <a:srgbClr val="69584B"/>
                </a:solidFill>
                <a:latin typeface="Aptos"/>
              </a:rPr>
              <a:t>között</a:t>
            </a:r>
            <a:r>
              <a:rPr sz="1100" b="0" i="1" dirty="0">
                <a:solidFill>
                  <a:srgbClr val="69584B"/>
                </a:solidFill>
                <a:latin typeface="Aptos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7315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584B"/>
                </a:solidFill>
                <a:latin typeface="Aptos"/>
              </a:rPr>
              <a:t>Szent Benedek PG • Iskolai weboldalprojekt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27B67"/>
                </a:solidFill>
                <a:latin typeface="Aptos"/>
              </a:rPr>
              <a:t>06 • TECHNIKAI HÁTTÉR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553E30"/>
                </a:solidFill>
                <a:latin typeface="Aptos"/>
              </a:rPr>
              <a:t>Felhasznált technológiák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584B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1874520"/>
            <a:ext cx="1417320" cy="502920"/>
          </a:xfrm>
          <a:prstGeom prst="round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1938528"/>
            <a:ext cx="1307592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HTML5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810512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53E30"/>
                </a:solidFill>
                <a:latin typeface="Aptos"/>
              </a:rPr>
              <a:t>A tartalom és a szerkezet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258568"/>
            <a:ext cx="310896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0261F"/>
                </a:solidFill>
                <a:latin typeface="Aptos"/>
              </a:rPr>
              <a:t>Oldalcím, navigáció, képek, gombok, szövegek.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56248" y="1838303"/>
            <a:ext cx="1417320" cy="502920"/>
          </a:xfrm>
          <a:prstGeom prst="roundRect">
            <a:avLst/>
          </a:prstGeom>
          <a:solidFill>
            <a:srgbClr val="927B67"/>
          </a:solidFill>
          <a:ln>
            <a:solidFill>
              <a:srgbClr val="92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11112" y="1938528"/>
            <a:ext cx="1307592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810512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53E30"/>
                </a:solidFill>
                <a:latin typeface="Aptos"/>
              </a:rPr>
              <a:t>A megjelenés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258568"/>
            <a:ext cx="310896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0261F"/>
                </a:solidFill>
                <a:latin typeface="Aptos"/>
              </a:rPr>
              <a:t>Színek, méretek, térközök, lekerekítések, mobilnézet.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32688" y="3824881"/>
            <a:ext cx="1417320" cy="502920"/>
          </a:xfrm>
          <a:prstGeom prst="roundRect">
            <a:avLst/>
          </a:prstGeom>
          <a:solidFill>
            <a:srgbClr val="927B67"/>
          </a:solidFill>
          <a:ln>
            <a:solidFill>
              <a:srgbClr val="92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" y="3904487"/>
            <a:ext cx="1307592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776472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53E30"/>
                </a:solidFill>
                <a:latin typeface="Aptos"/>
              </a:rPr>
              <a:t>Interaktivitás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224528"/>
            <a:ext cx="310896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0261F"/>
                </a:solidFill>
                <a:latin typeface="Aptos"/>
              </a:rPr>
              <a:t>Automatikus panelváltás és véletlenszerű eredmény.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566160"/>
            <a:ext cx="52578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56248" y="3824881"/>
            <a:ext cx="1417320" cy="502920"/>
          </a:xfrm>
          <a:prstGeom prst="round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1112" y="3904487"/>
            <a:ext cx="1307592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776472"/>
            <a:ext cx="31089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553E30"/>
                </a:solidFill>
                <a:latin typeface="Aptos"/>
              </a:rPr>
              <a:t>Verziókezelés és megosztás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224528"/>
            <a:ext cx="310896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0261F"/>
                </a:solidFill>
                <a:latin typeface="Aptos"/>
              </a:rPr>
              <a:t>A projektfájlok nyilvános tárolása és bemutatása.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06440"/>
            <a:ext cx="105156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9584B"/>
                </a:solidFill>
                <a:latin typeface="Aptos"/>
              </a:rPr>
              <a:t>A megállapítások az ellenőrzött index.html és style.css tartalmán alapulnak.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7315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584B"/>
                </a:solidFill>
                <a:latin typeface="Aptos"/>
              </a:rPr>
              <a:t>Szent Benedek PG • Iskolai weboldalprojekt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27B67"/>
                </a:solidFill>
                <a:latin typeface="Aptos"/>
              </a:rPr>
              <a:t>07 • ÉRTÉKELÉS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 dirty="0" err="1">
                <a:solidFill>
                  <a:srgbClr val="553E30"/>
                </a:solidFill>
                <a:latin typeface="Aptos"/>
              </a:rPr>
              <a:t>Reszponzivitás</a:t>
            </a:r>
            <a:r>
              <a:rPr sz="2800" b="1" i="0" dirty="0">
                <a:solidFill>
                  <a:srgbClr val="553E30"/>
                </a:solidFill>
                <a:latin typeface="Aptos"/>
              </a:rPr>
              <a:t> </a:t>
            </a:r>
            <a:r>
              <a:rPr sz="2800" b="1" i="0" dirty="0" err="1">
                <a:solidFill>
                  <a:srgbClr val="553E30"/>
                </a:solidFill>
                <a:latin typeface="Aptos"/>
              </a:rPr>
              <a:t>és</a:t>
            </a:r>
            <a:r>
              <a:rPr sz="2800" b="1" i="0" dirty="0">
                <a:solidFill>
                  <a:srgbClr val="553E30"/>
                </a:solidFill>
                <a:latin typeface="Aptos"/>
              </a:rPr>
              <a:t> </a:t>
            </a:r>
            <a:r>
              <a:rPr sz="2800" b="1" i="0" dirty="0" err="1">
                <a:solidFill>
                  <a:srgbClr val="553E30"/>
                </a:solidFill>
                <a:latin typeface="Aptos"/>
              </a:rPr>
              <a:t>felhasználói</a:t>
            </a:r>
            <a:r>
              <a:rPr sz="2800" b="1" i="0" dirty="0">
                <a:solidFill>
                  <a:srgbClr val="553E30"/>
                </a:solidFill>
                <a:latin typeface="Aptos"/>
              </a:rPr>
              <a:t> </a:t>
            </a:r>
            <a:r>
              <a:rPr sz="2800" b="1" i="0" dirty="0" err="1">
                <a:solidFill>
                  <a:srgbClr val="553E30"/>
                </a:solidFill>
                <a:latin typeface="Aptos"/>
              </a:rPr>
              <a:t>élmény</a:t>
            </a:r>
            <a:endParaRPr sz="2800" b="1" i="0" dirty="0">
              <a:solidFill>
                <a:srgbClr val="553E3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584B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30261F"/>
                </a:solidFill>
                <a:latin typeface="Aptos"/>
              </a:rPr>
              <a:t>A stíluslap külön szabályokat tartalmaz a kisebb képernyőkre.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3440" y="2194560"/>
            <a:ext cx="45720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1560" y="2441448"/>
            <a:ext cx="4206240" cy="320040"/>
          </a:xfrm>
          <a:prstGeom prst="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19200" y="2468163"/>
            <a:ext cx="38404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ASZTALI NÉZET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971800"/>
            <a:ext cx="1143000" cy="1051560"/>
          </a:xfrm>
          <a:prstGeom prst="roundRect">
            <a:avLst/>
          </a:prstGeom>
          <a:solidFill>
            <a:srgbClr val="F6F0E8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468880" y="2971800"/>
            <a:ext cx="1143000" cy="1051560"/>
          </a:xfrm>
          <a:prstGeom prst="roundRect">
            <a:avLst/>
          </a:prstGeom>
          <a:solidFill>
            <a:srgbClr val="AD9987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94760" y="2971800"/>
            <a:ext cx="1143000" cy="1051560"/>
          </a:xfrm>
          <a:prstGeom prst="roundRect">
            <a:avLst/>
          </a:prstGeom>
          <a:solidFill>
            <a:srgbClr val="F6F0E8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4023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9584B"/>
                </a:solidFill>
                <a:latin typeface="Aptos"/>
              </a:rPr>
              <a:t>Több elem egymás mellett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874520"/>
            <a:ext cx="182880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39712" y="2212848"/>
            <a:ext cx="1499616" cy="347472"/>
          </a:xfrm>
          <a:prstGeom prst="roundRect">
            <a:avLst/>
          </a:prstGeom>
          <a:solidFill>
            <a:srgbClr val="553E30"/>
          </a:solidFill>
          <a:ln>
            <a:solidFill>
              <a:srgbClr val="553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03720" y="2743200"/>
            <a:ext cx="1371600" cy="384048"/>
          </a:xfrm>
          <a:prstGeom prst="roundRect">
            <a:avLst/>
          </a:prstGeom>
          <a:solidFill>
            <a:srgbClr val="F6F0E8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03720" y="3273552"/>
            <a:ext cx="1371600" cy="384048"/>
          </a:xfrm>
          <a:prstGeom prst="roundRect">
            <a:avLst/>
          </a:prstGeom>
          <a:solidFill>
            <a:srgbClr val="AD9987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03720" y="3803904"/>
            <a:ext cx="1371600" cy="384048"/>
          </a:xfrm>
          <a:prstGeom prst="roundRect">
            <a:avLst/>
          </a:prstGeom>
          <a:solidFill>
            <a:srgbClr val="F6F0E8"/>
          </a:solidFill>
          <a:ln>
            <a:solidFill>
              <a:srgbClr val="AD9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2377440"/>
            <a:ext cx="2103120" cy="37856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 dirty="0">
                <a:solidFill>
                  <a:srgbClr val="553E30"/>
                </a:solidFill>
                <a:latin typeface="Aptos"/>
              </a:rPr>
              <a:t>MOBI</a:t>
            </a:r>
            <a:r>
              <a:rPr lang="hu-HU" sz="1500" b="1" i="0" dirty="0">
                <a:solidFill>
                  <a:srgbClr val="553E30"/>
                </a:solidFill>
                <a:latin typeface="Aptos"/>
              </a:rPr>
              <a:t>L</a:t>
            </a:r>
            <a:r>
              <a:rPr sz="1500" b="1" i="0" dirty="0">
                <a:solidFill>
                  <a:srgbClr val="553E30"/>
                </a:solidFill>
                <a:latin typeface="Aptos"/>
              </a:rPr>
              <a:t> NÉZET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97153"/>
            <a:ext cx="228600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30261F"/>
                </a:solidFill>
                <a:latin typeface="Aptos"/>
              </a:rPr>
              <a:t>A 768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px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alatti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töréspontnál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 a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táblázatos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elrendezés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blokkszerű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,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egymás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alatti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megjelenítésre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 </a:t>
            </a:r>
            <a:r>
              <a:rPr sz="1400" b="0" i="0" dirty="0" err="1">
                <a:solidFill>
                  <a:srgbClr val="30261F"/>
                </a:solidFill>
                <a:latin typeface="Aptos"/>
              </a:rPr>
              <a:t>vált</a:t>
            </a:r>
            <a:r>
              <a:rPr sz="1400" b="0" i="0" dirty="0">
                <a:solidFill>
                  <a:srgbClr val="30261F"/>
                </a:solidFill>
                <a:latin typeface="Apto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7315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9584B"/>
                </a:solidFill>
                <a:latin typeface="Aptos"/>
              </a:rPr>
              <a:t>Szent Benedek PG • Iskolai weboldalprojekt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53E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Összegzés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08760"/>
            <a:ext cx="1005840" cy="82296"/>
          </a:xfrm>
          <a:prstGeom prst="rect">
            <a:avLst/>
          </a:prstGeom>
          <a:solidFill>
            <a:srgbClr val="E1BE7E"/>
          </a:solidFill>
          <a:ln>
            <a:solidFill>
              <a:srgbClr val="E1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98755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A projekt egy iskola arculatához illeszkedő, interaktív weboldal főoldalát valósítja meg.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9875520" cy="2057400"/>
          </a:xfrm>
          <a:prstGeom prst="rect">
            <a:avLst/>
          </a:prstGeom>
          <a:noFill/>
        </p:spPr>
        <p:txBody>
          <a:bodyPr wrap="square" lIns="109728" tIns="54864" rIns="73152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1D2"/>
                </a:solidFill>
                <a:latin typeface="Aptos"/>
              </a:defRPr>
            </a:pPr>
            <a:r>
              <a:t>•  A HTML biztosítja a szerkezetet.</a:t>
            </a:r>
          </a:p>
          <a:p>
            <a:pPr>
              <a:spcAft>
                <a:spcPts val="1000"/>
              </a:spcAft>
              <a:defRPr sz="1700">
                <a:solidFill>
                  <a:srgbClr val="EFE1D2"/>
                </a:solidFill>
                <a:latin typeface="Aptos"/>
              </a:defRPr>
            </a:pPr>
            <a:r>
              <a:t>•  A CSS egységes megjelenést és mobilnézetet alakít ki.</a:t>
            </a:r>
          </a:p>
          <a:p>
            <a:pPr>
              <a:spcAft>
                <a:spcPts val="1000"/>
              </a:spcAft>
              <a:defRPr sz="1700">
                <a:solidFill>
                  <a:srgbClr val="EFE1D2"/>
                </a:solidFill>
                <a:latin typeface="Aptos"/>
              </a:defRPr>
            </a:pPr>
            <a:r>
              <a:t>•  A JavaScript egyszerű, kattintásra reagáló funkciókat ad hozzá.</a:t>
            </a:r>
          </a:p>
          <a:p>
            <a:pPr>
              <a:spcAft>
                <a:spcPts val="1000"/>
              </a:spcAft>
              <a:defRPr sz="1700">
                <a:solidFill>
                  <a:srgbClr val="EFE1D2"/>
                </a:solidFill>
                <a:latin typeface="Aptos"/>
              </a:defRPr>
            </a:pPr>
            <a:r>
              <a:t>•  A teljes bemutató előtt az aloldalak és hivatkozások ellenőrzése javasolt.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6400800" cy="47089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 dirty="0" err="1">
                <a:solidFill>
                  <a:srgbClr val="E1BE7E"/>
                </a:solidFill>
                <a:latin typeface="Aptos"/>
              </a:rPr>
              <a:t>Köszön</a:t>
            </a:r>
            <a:r>
              <a:rPr lang="hu-HU" sz="2100" b="1" i="0" dirty="0" err="1">
                <a:solidFill>
                  <a:srgbClr val="E1BE7E"/>
                </a:solidFill>
                <a:latin typeface="Aptos"/>
              </a:rPr>
              <a:t>jük</a:t>
            </a:r>
            <a:r>
              <a:rPr sz="2100" b="1" i="0" dirty="0">
                <a:solidFill>
                  <a:srgbClr val="E1BE7E"/>
                </a:solidFill>
                <a:latin typeface="Aptos"/>
              </a:rPr>
              <a:t> a </a:t>
            </a:r>
            <a:r>
              <a:rPr sz="2100" b="1" i="0" dirty="0" err="1">
                <a:solidFill>
                  <a:srgbClr val="E1BE7E"/>
                </a:solidFill>
                <a:latin typeface="Aptos"/>
              </a:rPr>
              <a:t>figyelmet</a:t>
            </a:r>
            <a:r>
              <a:rPr sz="2100" b="1" i="0" dirty="0">
                <a:solidFill>
                  <a:srgbClr val="E1BE7E"/>
                </a:solidFill>
                <a:latin typeface="Aptos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64008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E1D2C2"/>
                </a:solidFill>
                <a:latin typeface="Aptos"/>
              </a:rPr>
              <a:t>GitHub: Maleth67/IskolaWeboldalProjekt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601</Words>
  <Application>Microsoft Macintosh PowerPoint</Application>
  <PresentationFormat>Widescreen</PresentationFormat>
  <Paragraphs>117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O365 felhasználó</cp:lastModifiedBy>
  <cp:revision>2</cp:revision>
  <dcterms:created xsi:type="dcterms:W3CDTF">2013-01-27T09:14:16Z</dcterms:created>
  <dcterms:modified xsi:type="dcterms:W3CDTF">2026-10-18T16:30:20Z</dcterms:modified>
  <cp:category/>
</cp:coreProperties>
</file>